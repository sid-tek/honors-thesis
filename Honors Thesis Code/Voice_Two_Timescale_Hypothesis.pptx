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68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35D6F-A8D8-AB1A-749F-79A58C6F5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C7BD7-FC85-F7F3-3100-ED85E46F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14132B-9AC0-8109-BD0B-1BE3BE299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8AE91-F0C8-C6A4-6D5B-72CB49B0D7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78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computationalstylistics/100_english_novels/tree/master/corpu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320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500116" y="868680"/>
            <a:ext cx="1188720" cy="1188720"/>
          </a:xfrm>
          <a:prstGeom prst="ellipse">
            <a:avLst/>
          </a:prstGeom>
          <a:solidFill>
            <a:srgbClr val="C9A6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ck/icons/feat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6" y="11658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on Two Timescales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3127248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How Authorial Voice Emerges Across a Novel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271516" y="3794760"/>
            <a:ext cx="1645920" cy="0"/>
          </a:xfrm>
          <a:prstGeom prst="line">
            <a:avLst/>
          </a:prstGeom>
          <a:noFill/>
          <a:ln w="12700">
            <a:solidFill>
              <a:srgbClr val="3E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39776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Honors Thesis Progress Review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59893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Sid   · 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7DE24B-43E1-B098-1643-079C71C81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D08B6A-4236-5FF1-AF4E-F5C8000A7A87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help.png">
            <a:extLst>
              <a:ext uri="{FF2B5EF4-FFF2-40B4-BE49-F238E27FC236}">
                <a16:creationId xmlns:a16="http://schemas.microsoft.com/office/drawing/2014/main" id="{91EE996A-6D88-21B9-5B12-2DCE7E0C0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0135B62-8696-3896-3D4E-A9861E289CB8}"/>
              </a:ext>
            </a:extLst>
          </p:cNvPr>
          <p:cNvSpPr/>
          <p:nvPr/>
        </p:nvSpPr>
        <p:spPr>
          <a:xfrm>
            <a:off x="1170432" y="40233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</a:rPr>
              <a:t>What is Voice?</a:t>
            </a:r>
            <a:endParaRPr lang="en-US" sz="27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93134A8-41DE-8762-C328-B95A7CF834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1960" y="1371600"/>
            <a:ext cx="5212080" cy="2240280"/>
          </a:xfrm>
          <a:prstGeom prst="roundRect">
            <a:avLst>
              <a:gd name="adj" fmla="val 1495"/>
            </a:avLst>
          </a:prstGeom>
          <a:solidFill>
            <a:srgbClr val="1B2A41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818C3E9-55DD-CD5F-F673-65984F55ADA7}"/>
              </a:ext>
            </a:extLst>
          </p:cNvPr>
          <p:cNvSpPr/>
          <p:nvPr/>
        </p:nvSpPr>
        <p:spPr>
          <a:xfrm>
            <a:off x="731520" y="153619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CC9233C-CB0A-33D1-A863-1FD3D4BE200E}"/>
              </a:ext>
            </a:extLst>
          </p:cNvPr>
          <p:cNvSpPr/>
          <p:nvPr/>
        </p:nvSpPr>
        <p:spPr>
          <a:xfrm>
            <a:off x="777240" y="19659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9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9CE7D20-726F-BAFB-CDC1-737C7859FBF8}"/>
              </a:ext>
            </a:extLst>
          </p:cNvPr>
          <p:cNvSpPr/>
          <p:nvPr/>
        </p:nvSpPr>
        <p:spPr>
          <a:xfrm>
            <a:off x="777240" y="3429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3E42CBD-3959-6BFF-E722-62183DAC8025}"/>
              </a:ext>
            </a:extLst>
          </p:cNvPr>
          <p:cNvSpPr>
            <a:spLocks/>
          </p:cNvSpPr>
          <p:nvPr/>
        </p:nvSpPr>
        <p:spPr>
          <a:xfrm>
            <a:off x="6386362" y="1246472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Voice is the accumulated effect of thousands of micro-decisions an author makes — most of them unconscious. It is not what is said, but how the saying feels.</a:t>
            </a:r>
            <a:endParaRPr lang="en-US" b="1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CB6C441-4B73-FA17-1058-E1706983EE6D}"/>
              </a:ext>
            </a:extLst>
          </p:cNvPr>
          <p:cNvSpPr/>
          <p:nvPr/>
        </p:nvSpPr>
        <p:spPr>
          <a:xfrm>
            <a:off x="624840" y="1720215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experience voice as one unified impression.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8D5263C-5BAB-E9E4-C770-1D6ED8751202}"/>
              </a:ext>
            </a:extLst>
          </p:cNvPr>
          <p:cNvSpPr/>
          <p:nvPr/>
        </p:nvSpPr>
        <p:spPr>
          <a:xfrm>
            <a:off x="609600" y="2394585"/>
            <a:ext cx="454312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that impression is produced locally — word by word, sentence by sentence. </a:t>
            </a:r>
            <a:endParaRPr lang="en-US" sz="1350" dirty="0">
              <a:solidFill>
                <a:schemeClr val="bg2"/>
              </a:solidFill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30A50141-0CD9-7AA2-06D4-2E0DC8566DF4}"/>
              </a:ext>
            </a:extLst>
          </p:cNvPr>
          <p:cNvSpPr/>
          <p:nvPr/>
        </p:nvSpPr>
        <p:spPr>
          <a:xfrm>
            <a:off x="5897880" y="2788920"/>
            <a:ext cx="5852160" cy="1920240"/>
          </a:xfrm>
          <a:prstGeom prst="roundRect">
            <a:avLst>
              <a:gd name="adj" fmla="val 3810"/>
            </a:avLst>
          </a:prstGeom>
          <a:solidFill>
            <a:srgbClr val="F4EEE3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9F5F58C-9D31-8B5C-7D85-335AE042D653}"/>
              </a:ext>
            </a:extLst>
          </p:cNvPr>
          <p:cNvSpPr/>
          <p:nvPr/>
        </p:nvSpPr>
        <p:spPr>
          <a:xfrm>
            <a:off x="6172200" y="29718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PUZZLE</a:t>
            </a:r>
            <a:endParaRPr lang="en-US" sz="11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A190447-49BF-A113-65B7-7FAFD3F35887}"/>
              </a:ext>
            </a:extLst>
          </p:cNvPr>
          <p:cNvSpPr/>
          <p:nvPr/>
        </p:nvSpPr>
        <p:spPr>
          <a:xfrm>
            <a:off x="6172200" y="329184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local, measurable patterns reconstruct — and help explain — a holistic impression readers form almost instantly?</a:t>
            </a:r>
            <a:endParaRPr lang="en-US" sz="16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3B35594C-529F-8362-11E4-DFDCC73A9047}"/>
              </a:ext>
            </a:extLst>
          </p:cNvPr>
          <p:cNvSpPr/>
          <p:nvPr/>
        </p:nvSpPr>
        <p:spPr>
          <a:xfrm>
            <a:off x="441960" y="5020056"/>
            <a:ext cx="5852160" cy="1325880"/>
          </a:xfrm>
          <a:prstGeom prst="roundRect">
            <a:avLst>
              <a:gd name="adj" fmla="val 5517"/>
            </a:avLst>
          </a:prstGeom>
          <a:solidFill>
            <a:srgbClr val="1B2A41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480631F-1E52-1631-4B88-2F8409D04CB3}"/>
              </a:ext>
            </a:extLst>
          </p:cNvPr>
          <p:cNvSpPr/>
          <p:nvPr/>
        </p:nvSpPr>
        <p:spPr>
          <a:xfrm>
            <a:off x="716280" y="515721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CB21700-8E13-A1BE-D186-9F6435DFC327}"/>
              </a:ext>
            </a:extLst>
          </p:cNvPr>
          <p:cNvSpPr/>
          <p:nvPr/>
        </p:nvSpPr>
        <p:spPr>
          <a:xfrm>
            <a:off x="716280" y="5431536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features that create voice all become recognizable at the same rate — or do some emerge faster than others?</a:t>
            </a:r>
            <a:endParaRPr lang="en-US" sz="13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3D7CA62-33D9-39B6-EBF3-AF1367A3A36C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TWO-TIMESCALE VOICE HYPOTHESIS</a:t>
            </a:r>
            <a:endParaRPr lang="en-US" sz="9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A441714-98B8-158E-242E-DB24763D3A47}"/>
              </a:ext>
            </a:extLst>
          </p:cNvPr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9765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0233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Eight Candidate Features to a Testable Set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can be described at many levels — surface, structural, conceptual, relational. For a computational thesis, only some of that is measurable without building a new AI system. This project uses a division of voice elaborated in “</a:t>
            </a:r>
            <a:r>
              <a:rPr lang="en-US" sz="1400" dirty="0"/>
              <a:t>Not All Character N-grams Are Created Equal: A Study in Authorship Attribution”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58368" y="216712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C9A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" y="2167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26791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Lexical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304495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choice, rare vs. common words, type-token ratio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46120" y="19659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47288" y="216712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C9A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47288" y="2167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29000" y="26791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Syntactic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429000" y="304495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length, subordination vs. coordination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35040" y="19659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36208" y="216712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C9A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36208" y="2167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17920" y="26791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Rhythmic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217920" y="304495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rhythm, syllables per word, sentence endings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823960" y="19659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025128" y="216712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C9A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025128" y="2167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06840" y="26791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Punctuation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006840" y="304495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Comma, dash, semicolon, and exclamation habits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480060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1B2A41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31520" y="495604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METHODOLOGICAL PROBLEM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31520" y="5257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Genre, time period, and translation can all produce the same kind of signal as voice. If Asimov and a contemporary domestic novelist diverge on vocabulary, is that voice — or just science fiction vs. realism? Controlling for this confound became a recurring theme across every following stage.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TWO-TIMESCALE VOICE HYPOTHESIS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35BCDA-A3E6-6911-18D2-529B603B5F32}"/>
              </a:ext>
            </a:extLst>
          </p:cNvPr>
          <p:cNvSpPr txBox="1"/>
          <p:nvPr/>
        </p:nvSpPr>
        <p:spPr>
          <a:xfrm>
            <a:off x="511515" y="4067957"/>
            <a:ext cx="10681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Dataset: 100 English Novels -&gt; </a:t>
            </a:r>
            <a:r>
              <a:rPr lang="en-US" sz="1600" dirty="0">
                <a:hlinkClick r:id="rId4"/>
              </a:rPr>
              <a:t>https://github.com/computationalstylistics/100_english_novels/tree/master/corpus</a:t>
            </a:r>
            <a:endParaRPr lang="en-US" sz="1600" dirty="0"/>
          </a:p>
          <a:p>
            <a:r>
              <a:rPr lang="en-US" sz="1600" dirty="0"/>
              <a:t>Will elaborate on the corpus further in this presentation.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METHOD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5486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Chase the Plateau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12801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method: train a classifier to attribute authorship on a growing window of text, and find the point where accuracy stops improving — the presumed moment voice becomes “established.”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85800" y="2377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295351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vectors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85800" y="3355848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n-grams, grounded in Sapkota et al. (2015): morpho-syntax (prefixes / suffixes), thematic content (whole-word), and style (punctuation) families.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04488" y="3227832"/>
            <a:ext cx="256032" cy="219456"/>
          </a:xfrm>
          <a:prstGeom prst="rightArrow">
            <a:avLst/>
          </a:prstGeom>
          <a:solidFill>
            <a:srgbClr val="C9A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178808" y="214884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407408" y="2377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407408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407408" y="295351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windows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4407408" y="3355848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author classifier on text windows from 500 up past 30,000 characters, measuring accuracy at each size.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626096" y="3227832"/>
            <a:ext cx="256032" cy="219456"/>
          </a:xfrm>
          <a:prstGeom prst="rightArrow">
            <a:avLst/>
          </a:prstGeom>
          <a:solidFill>
            <a:srgbClr val="C9A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900416" y="214884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129016" y="2377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129016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129016" y="295351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plateau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8129016" y="3355848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window length where accuracy stops climbing — treated as the feature's “emergence point.”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7200" y="48920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EEE3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31520" y="50292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HYPOTHESIS AT THIS STAGE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31520" y="532180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Fast-plateauing features are the ones readers unconsciously rely on for their immediate first impression of voice.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TWO-TIMESCALE VOICE HYPOTHESIS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B26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alert_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0233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</a:t>
            </a: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</a:t>
            </a: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Dead Ends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3232" y="16276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8B26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25880" y="1627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Corpus Was Too Thin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13232" y="2286000"/>
            <a:ext cx="47000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available novel corpus held 33–34 authors, almost all with exactly 3 novels each. Cross-validation folds were capped at 3, and results came back underwhelmingly flat — too thin a sample to trust.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137160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199632" y="16276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8B26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99632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12280" y="1627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Never Plateaued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199632" y="2286000"/>
            <a:ext cx="47000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out to 30,000 characters, accuracy kept climbing for every feature type. The plateau-detector itself hit a noise floor at this sample size — it couldn't tell a real plateau from random jitter.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4846320"/>
            <a:ext cx="10698480" cy="1280160"/>
          </a:xfrm>
          <a:prstGeom prst="roundRect">
            <a:avLst>
              <a:gd name="adj" fmla="val 5714"/>
            </a:avLst>
          </a:prstGeom>
          <a:solidFill>
            <a:srgbClr val="1B2A41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22960" y="5074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What now? To think outside the box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22960" y="5623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TWO-TIMESCALE VOICE HYPOTHESIS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C9A6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75488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Pivot — Ask Where, Not When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D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changed from “when does accuracy plateau?” to “where in the text is classification accuracy concentrated?”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13202F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578608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 character-level features — prefixes, suffixes, mid-word n-grams — show classification accuracy disproportionately concentrated at a novel's opening.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4005072"/>
            <a:ext cx="91440" cy="91440"/>
          </a:xfrm>
          <a:prstGeom prst="ellipse">
            <a:avLst/>
          </a:prstGeom>
          <a:solidFill>
            <a:srgbClr val="C9A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38587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 a control for front-matter leakage: the effect shrank by roughly half after removing title/chapter-heading contamination — but did not disappear.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4718304"/>
            <a:ext cx="91440" cy="91440"/>
          </a:xfrm>
          <a:prstGeom prst="ellipse">
            <a:avLst/>
          </a:prstGeom>
          <a:solidFill>
            <a:srgbClr val="C9A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457200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categories (e.g. beg-punct) showed almost none of this effect — the pattern is feature-specific, not universal.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" y="5431536"/>
            <a:ext cx="91440" cy="91440"/>
          </a:xfrm>
          <a:prstGeom prst="ellipse">
            <a:avLst/>
          </a:prstGeom>
          <a:solidFill>
            <a:srgbClr val="C9A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5285232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but modest: offset 0 “wins” far above chance (49% vs. a 20% baseline), though the raw accuracy boost itself is small (about 0.01–0.04).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TWO-TIMESCALE VOICE HYPOTHESIS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git_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0233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Producing a New Hypothesis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offset sweep out to 100,000 characters — chasing an earlier “double dip” around 8,000–12,000 characters — revealed two distinct shapes, not one: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" y="210312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2240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542032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strong, spiky signal concentrated right at the opening — visible only to small windows.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0" y="210312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17920" y="2240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0" y="2542032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weaker, slower, evenly-rising signal that only large windows have the statistical power to detect.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4069080"/>
            <a:ext cx="10698480" cy="2057400"/>
          </a:xfrm>
          <a:prstGeom prst="roundRect">
            <a:avLst>
              <a:gd name="adj" fmla="val 3556"/>
            </a:avLst>
          </a:prstGeom>
          <a:solidFill>
            <a:srgbClr val="1B2A41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" y="42245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TWO-TIMESCALE HYPOTHESIS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7240" y="4553712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“Voice operates on at least two timescales: a strong, concentrated opening burst for certain stylistic markers, layered on top of a separate, slower-accumulating signal that doesn't peak early at all.”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77240" y="5623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reconciled two separate feature families, each simply operating on a different timescale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TWO-TIMESCALE VOICE HYPOTHESIS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0233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Test Pipeline for this New Hypothesis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2578608" cy="3200400"/>
          </a:xfrm>
          <a:prstGeom prst="roundRect">
            <a:avLst>
              <a:gd name="adj" fmla="val 2837"/>
            </a:avLst>
          </a:prstGeom>
          <a:solidFill>
            <a:srgbClr val="1B2A41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581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2221992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2587752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each novel (local + cumulative); extract a 24-feature battery — sentence length, TTR, hapax rate, punctuation rates, subordination/coordination, syllables/word, function-word rates.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44952" y="2898648"/>
            <a:ext cx="146304" cy="237744"/>
          </a:xfrm>
          <a:prstGeom prst="right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00400" y="1417320"/>
            <a:ext cx="2578608" cy="3200400"/>
          </a:xfrm>
          <a:prstGeom prst="roundRect">
            <a:avLst>
              <a:gd name="adj" fmla="val 2837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383280" y="1581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383280" y="2221992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383280" y="2587752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z-scored author-vs-background profile from held-out text; score every window on how far it sits along the author's distinctive axis.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88152" y="2898648"/>
            <a:ext cx="146304" cy="237744"/>
          </a:xfrm>
          <a:prstGeom prst="right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943600" y="1417320"/>
            <a:ext cx="2578608" cy="3200400"/>
          </a:xfrm>
          <a:prstGeom prst="roundRect">
            <a:avLst>
              <a:gd name="adj" fmla="val 2837"/>
            </a:avLst>
          </a:prstGeom>
          <a:solidFill>
            <a:srgbClr val="1B2A41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26480" y="1581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126480" y="2221992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TIMING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126480" y="2587752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feature: a permutation-based burst test and accumulator test, with Benjamini–Hochberg FDR correction across all tests.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531352" y="2898648"/>
            <a:ext cx="146304" cy="237744"/>
          </a:xfrm>
          <a:prstGeom prst="right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686800" y="1417320"/>
            <a:ext cx="2578608" cy="3200400"/>
          </a:xfrm>
          <a:prstGeom prst="roundRect">
            <a:avLst>
              <a:gd name="adj" fmla="val 2837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869680" y="1581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8869680" y="2221992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IT'S REAL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869680" y="2587752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descriptors (burst effect, accumulator slope) per feature; cluster to see whether features form real families or a continuum.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84632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4EEE3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31520" y="49834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RUNTIME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31520" y="5285232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novels run 150,000–360,000 words. An incremental O(n) cumulative-feature aggregator replaced an O(n²) version and vectorized numpy permutation tests replaced a looped scipy implementation — both needed before full-length novels were feasible to run.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TWO-TIMESCALE VOICE HYPOTHESIS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book_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0233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Real Test Corpus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2578608" cy="1600200"/>
          </a:xfrm>
          <a:prstGeom prst="roundRect">
            <a:avLst>
              <a:gd name="adj" fmla="val 4571"/>
            </a:avLst>
          </a:prstGeom>
          <a:solidFill>
            <a:srgbClr val="1B2A41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664208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94360" y="245059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0" y="1463040"/>
            <a:ext cx="2578608" cy="1600200"/>
          </a:xfrm>
          <a:prstGeom prst="roundRect">
            <a:avLst>
              <a:gd name="adj" fmla="val 4571"/>
            </a:avLst>
          </a:prstGeom>
          <a:solidFill>
            <a:srgbClr val="1B2A41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00400" y="1664208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337560" y="245059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1463040"/>
            <a:ext cx="2578608" cy="1600200"/>
          </a:xfrm>
          <a:prstGeom prst="roundRect">
            <a:avLst>
              <a:gd name="adj" fmla="val 4571"/>
            </a:avLst>
          </a:prstGeom>
          <a:solidFill>
            <a:srgbClr val="1B2A41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0" y="1664208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1839–1930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080760" y="245059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Victorian &amp; Edwardian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0" y="1463040"/>
            <a:ext cx="2578608" cy="1600200"/>
          </a:xfrm>
          <a:prstGeom prst="roundRect">
            <a:avLst>
              <a:gd name="adj" fmla="val 4571"/>
            </a:avLst>
          </a:prstGeom>
          <a:solidFill>
            <a:srgbClr val="1B2A41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0" y="1664208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+ 1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8823960" y="245059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novels/author, plus one Anon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33375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the corpus to one broad literary period and tradition holds genre and era roughly constant across authors — addressing the confound flagged back in the earliest thesis planning — while still leaving real room for individual stylistic variation.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425196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1520" y="440740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CORPUS, PRACTICALLY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1520" y="47091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corpora (100 mixed English novels, ad hoc Gutenberg pulls) were either too thin per author or too uneven in period to trust. This 100-book, single-tradition set is small enough to run the full pipeline in about a minute but structured enough to support a real 33-author study — with a two-author (Dickens vs. Eliot) pilot run first to validate the method before scaling up.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TWO-TIMESCALE VOICE HYPOTHESIS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0233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Study — Dickens vs. Eliot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6002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3E7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FIT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2057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George Eliot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2651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FEATURES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926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fw_of, ttr  (q ≈ 0.024)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3429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 FEATURES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7033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hapax_rate, semicolon_rate, exclaim_rate  (q ≈ 0.004)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452628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two-timescale hypothesis cleanly — a real burst family and a real accumulator family, distinct from each other.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0" y="13716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17920" y="160020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17920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PATTERN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17920" y="2057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Charles Dickens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217920" y="26517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showed a real two-family split in the data — but organized along a rising-vs-falling axis, not the predicted burst-vs-accumulate axis.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217920" y="36118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cleared burst significance for Dickens in this run.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217920" y="434340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pattern — just not the one the hypothesis predicted. A sign the two-author pilot couldn't settle things on its own.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TWO-TIMESCALE VOICE HYPOTHESIS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bar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38138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to All 33 Authors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34340" y="1084654"/>
            <a:ext cx="4846320" cy="2363555"/>
          </a:xfrm>
          <a:prstGeom prst="roundRect">
            <a:avLst>
              <a:gd name="adj" fmla="val 1649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12161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UPGRADE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1528138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author is compared against a background = the average of every other author's own profile — not pairwise. That makes the run O(n) instead of O(n²) in author count.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0664" y="2287741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FDR correction is applied once across the entire study, not per-author as in the pilot — appropriately stricter given far more simultaneous tests: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0664" y="2991009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authors × 24 features × 2 tests = 1,584 tests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532120" y="4871987"/>
            <a:ext cx="5806440" cy="1097280"/>
          </a:xfrm>
          <a:prstGeom prst="roundRect">
            <a:avLst>
              <a:gd name="adj" fmla="val 6667"/>
            </a:avLst>
          </a:prstGeom>
          <a:solidFill>
            <a:srgbClr val="F4EEE3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760720" y="5009147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by breadth: TTR, avg. word length, ‘of’-rate, % monosyllabic (~24% of authors each; roughly 3 burst / 5 accumulator split).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TWO-TIMESCALE VOICE HYPOTHESIS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DF595EC-A9EF-8E70-9325-EA8CC555F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336" y="550042"/>
            <a:ext cx="4937600" cy="39895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C9A6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check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75488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13202F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162763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BROADLY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14400" y="1938528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“slow accumulator” half of the hypothesis has broad support across the corpus — accumulation was every feature's dominant pattern, wherever a pattern showed up at all.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13202F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350215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BUT NARROWER THAN EXPECTED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3813048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“opening burst” half is real — but shows up for a small, specific minority of authors and features (19 of 792 pairs), not universally.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 two-family split was more visible in the single Eliot comparison than in the full-corpus aggregate, meaning not every author has that “opening burst” of voice distinctiveness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TWO-TIMESCALE VOICE HYPOTHESIS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B26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alert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0233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Worth Naming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3232" y="16733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B26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" y="1673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80160" y="158191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dash_rate outliers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280160" y="196596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extreme effect sizes did not survive FDR correction (q = 0.21, 1.0). Dashes are rare enough that low-usage authors get a near-zero denominator and inflated z-scores. A minimum-count floor would fix this.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0175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13232" y="32735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B26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3232" y="3273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80160" y="318211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TTR / hapax_rate sample-size dependence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280160" y="356616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shrink mechanically as window size grows. This affects only the visual cumulative-window plots — the significance tests themselves are local-window based and unaffected.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6177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EFF2F6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13232" y="48737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B26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13232" y="4873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80160" y="478231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 POS tagger or CMU dictionary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1280160" y="516636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nltk nor spacy would install in the sandbox. Subordination/coordination rates use a hand-curated word list; syllable counts use a vowel-group heuristic — both noted as limitations in the code and README.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TWO-TIMESCALE VOICE HYPOTHESIS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0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46888"/>
            <a:ext cx="566928" cy="566928"/>
          </a:xfrm>
          <a:prstGeom prst="ellipse">
            <a:avLst/>
          </a:prstGeom>
          <a:solidFill>
            <a:srgbClr val="C9A6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ck/icons/arrow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382951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246888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5989320" y="14173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13202F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17920" y="1645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9A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1792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17920" y="213055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Feature-Level Consistencies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217920" y="25146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to the features themselves, and see if certain features have a dominant burst/accumulation pattern 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374904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13202F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85800" y="3977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9A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580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85800" y="446227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Verify with Different Corpuses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85800" y="48463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pipeline with different databases and see if results are consistent or divergent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14173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13202F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85800" y="1645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9A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8580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</a:rPr>
              <a:t>1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85800" y="213055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Reframe the Thesis Claim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685800" y="25146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this new, solid finding: accumulation is broad and consistent; the opening burst is too, but narrower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1743</Words>
  <Application>Microsoft Office PowerPoint</Application>
  <PresentationFormat>Widescreen</PresentationFormat>
  <Paragraphs>178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Tekumalla, Siddhardh</cp:lastModifiedBy>
  <cp:revision>2</cp:revision>
  <dcterms:created xsi:type="dcterms:W3CDTF">2026-08-26T14:16:19Z</dcterms:created>
  <dcterms:modified xsi:type="dcterms:W3CDTF">2026-08-31T00:24:21Z</dcterms:modified>
</cp:coreProperties>
</file>